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26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7263D"/>
                </a:solidFill>
                <a:latin typeface="Calibri"/>
              </a:rPr>
              <a:t>Gross margin per AI Apply, by model (est.)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26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Workers AI</c:v>
                  </c:pt>
                  <c:pt idx="1">
                    <c:v>GPT mini</c:v>
                  </c:pt>
                  <c:pt idx="2">
                    <c:v>GPT flagship</c:v>
                  </c:pt>
                  <c:pt idx="3">
                    <c:v>Claude Sonnet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</c:v>
                </c:pt>
                <c:pt idx="1">
                  <c:v>98</c:v>
                </c:pt>
                <c:pt idx="2">
                  <c:v>83</c:v>
                </c:pt>
                <c:pt idx="3">
                  <c:v>79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726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97680"/>
            <a:ext cx="4754880" cy="4754880"/>
          </a:xfrm>
          <a:prstGeom prst="ellipse">
            <a:avLst/>
          </a:prstGeom>
          <a:ln w="12700">
            <a:solidFill>
              <a:srgbClr val="02C39A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ln w="12700">
            <a:solidFill>
              <a:srgbClr val="02C39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09960" y="5715000"/>
            <a:ext cx="1920240" cy="192024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965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ASSISTANT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3172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smarter.</a:t>
            </a:r>
            <a:endParaRPr lang="en-US" sz="5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Hire faster.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97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two-sided AI talent marketplace for Zimbabwe &amp; Southern Africa.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4983480"/>
            <a:ext cx="2534717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 w="12700">
            <a:solidFill>
              <a:srgbClr val="02C39A">
                <a:alpha val="6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983480"/>
            <a:ext cx="25347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AI-tailored applications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3397" y="4983480"/>
            <a:ext cx="2086661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 w="12700">
            <a:solidFill>
              <a:srgbClr val="02C39A">
                <a:alpha val="6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03397" y="498348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candidates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18658" y="4983480"/>
            <a:ext cx="1907438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 w="12700">
            <a:solidFill>
              <a:srgbClr val="02C39A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18658" y="4983480"/>
            <a:ext cx="1907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~85% gross margin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&amp; partner brief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Applying is broken on both sides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E7C86">
              <a:alpha val="1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seekers apply blindly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8328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CVs, no idea if they even match the role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first-timers have no CV at all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roles sit scattered across boards and expire unseen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20574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96167">
              <a:alpha val="1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697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Employers drown in noise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38328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Piles of unqualified, unverified applicants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fast way to reach active, screened candidates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drags on and costs mount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platform, two doors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389120"/>
          </a:xfrm>
          <a:prstGeom prst="roundRect">
            <a:avLst>
              <a:gd name="adj" fmla="val 2500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“I’m looking for work”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97180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jobs, de-duplicated &amp; enriched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AI-tailored applications sent from your own Gmail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CV from scratch — no CV needed to start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Swipe-to-match + verification badges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389120"/>
          </a:xfrm>
          <a:prstGeom prst="roundRect">
            <a:avLst>
              <a:gd name="adj" fmla="val 2500"/>
            </a:avLst>
          </a:prstGeom>
          <a:solidFill>
            <a:srgbClr val="0F2138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20574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057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“I’m hiring”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97180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pool of profiled candidates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Swipe-to-shortlist the right people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Pay-to-unlock verified contact details</a:t>
            </a:r>
            <a:endParaRPr lang="en-US" sz="1500" dirty="0"/>
          </a:p>
          <a:p>
            <a:pPr marL="228600" indent="-2286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messaging, end to end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tailwinds line up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868680" cy="868680"/>
          </a:xfrm>
          <a:prstGeom prst="ellipse">
            <a:avLst/>
          </a:prstGeom>
          <a:solidFill>
            <a:srgbClr val="02C39A">
              <a:alpha val="18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48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cost collapsed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9476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the tailoring model on Cloudflare Workers AI costs a fraction of a cent per action — margins impossible two years ago.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45152" y="2148840"/>
            <a:ext cx="868680" cy="868680"/>
          </a:xfrm>
          <a:prstGeom prst="ellipse">
            <a:avLst/>
          </a:prstGeom>
          <a:solidFill>
            <a:srgbClr val="02C39A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45152" y="2148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45152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Local-first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379476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Zimbabwean job-board coverage, USD pricing with mobile money (Paynow/EcoCash) on the roadmap, Gmail-native sending employers trust.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01584" y="182880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21624" y="2148840"/>
            <a:ext cx="868680" cy="868680"/>
          </a:xfrm>
          <a:prstGeom prst="ellipse">
            <a:avLst/>
          </a:prstGeom>
          <a:solidFill>
            <a:srgbClr val="02C39A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21624" y="2148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21624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Two-sided moat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79476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verified candidate makes the employer side more valuable — and every employer makes the seeker side more valuable.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JOB SEEKER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blank page to sent application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084832" cy="2103120"/>
          </a:xfrm>
          <a:prstGeom prst="roundRect">
            <a:avLst>
              <a:gd name="adj" fmla="val 5263"/>
            </a:avLst>
          </a:prstGeom>
          <a:solidFill>
            <a:srgbClr val="EAF6F3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71016" y="2606040"/>
            <a:ext cx="640080" cy="6400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71016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or build a CV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15184" y="306324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761488" y="2286000"/>
            <a:ext cx="2084832" cy="2103120"/>
          </a:xfrm>
          <a:prstGeom prst="roundRect">
            <a:avLst>
              <a:gd name="adj" fmla="val 5263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83864" y="2606040"/>
            <a:ext cx="640080" cy="6400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83864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98648" y="338328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swipe jobs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306324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974336" y="2286000"/>
            <a:ext cx="2084832" cy="2103120"/>
          </a:xfrm>
          <a:prstGeom prst="roundRect">
            <a:avLst>
              <a:gd name="adj" fmla="val 5263"/>
            </a:avLst>
          </a:prstGeom>
          <a:solidFill>
            <a:srgbClr val="EAF6F3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96712" y="2606040"/>
            <a:ext cx="640080" cy="6400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96712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5111496" y="338328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free — or AI Apply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306324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187184" y="2286000"/>
            <a:ext cx="2084832" cy="2103120"/>
          </a:xfrm>
          <a:prstGeom prst="roundRect">
            <a:avLst>
              <a:gd name="adj" fmla="val 5263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09560" y="2606040"/>
            <a:ext cx="640080" cy="6400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0956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324344" y="338328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from your Gmail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53728" y="306324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400032" y="2286000"/>
            <a:ext cx="2084832" cy="2103120"/>
          </a:xfrm>
          <a:prstGeom prst="roundRect">
            <a:avLst>
              <a:gd name="adj" fmla="val 5263"/>
            </a:avLst>
          </a:prstGeom>
          <a:solidFill>
            <a:srgbClr val="EAF6F3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122408" y="2606040"/>
            <a:ext cx="640080" cy="6400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22408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9537192" y="338328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verified &amp; tracked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solidFill>
            <a:srgbClr val="F3F7F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clear actions on every job:  </a:t>
            </a:r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pPr algn="ctr" indent="0" marL="0">
              <a:buNone/>
            </a:pPr>
            <a:r>
              <a:rPr lang="en-US" sz="16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free (your own CV).   </a:t>
            </a:r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Apply</a:t>
            </a:r>
            <a:pPr algn="ctr" indent="0" marL="0">
              <a:buNone/>
            </a:pPr>
            <a:r>
              <a:rPr lang="en-US" sz="16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 credits) tailors the CV + cover note to that job.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EMPLOYER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→ discover → unlock → hire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932688"/>
          </a:xfrm>
          <a:prstGeom prst="roundRect">
            <a:avLst>
              <a:gd name="adj" fmla="val 1176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20824"/>
            <a:ext cx="548640" cy="54864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20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9385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&amp; get approved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9202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+ verification document reviewed by an admin before any contact is unlocked — keeps the pool protected.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889504"/>
            <a:ext cx="1106424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81528"/>
            <a:ext cx="548640" cy="54864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081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99923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 candidates by sector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98094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Profiled cards with headline, experience, skills and verified badges (identity, education, employment).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950208"/>
            <a:ext cx="11064240" cy="932688"/>
          </a:xfrm>
          <a:prstGeom prst="roundRect">
            <a:avLst>
              <a:gd name="adj" fmla="val 1176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42232"/>
            <a:ext cx="548640" cy="54864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142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05993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Swipe to shortlist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404164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recruiter swipe deck to shortlist the right people fast.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010912"/>
            <a:ext cx="1106424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202936"/>
            <a:ext cx="548640" cy="54864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202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51206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Unlock &amp; message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510235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Revealing contact details spends credits — the core revenue event — then message in-app, two-way.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MONEY 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Prepaid credits — spend on what matters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packs (live)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212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Starter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700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34472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04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cr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5204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0F2138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681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1389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cr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47548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credits are spent on (live)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80760" y="2103120"/>
            <a:ext cx="5532120" cy="548640"/>
          </a:xfrm>
          <a:prstGeom prst="rect">
            <a:avLst/>
          </a:prstGeom>
          <a:solidFill>
            <a:srgbClr val="0F213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21031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0" y="21031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210312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USD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700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Apply — tailor CV + note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0" y="267004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332720" y="267004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$0.11–0.15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080760" y="3236976"/>
            <a:ext cx="5532120" cy="548640"/>
          </a:xfrm>
          <a:prstGeom prst="rect">
            <a:avLst/>
          </a:prstGeom>
          <a:solidFill>
            <a:srgbClr val="F3F7F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7920" y="32369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all jobs to my CV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323697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332720" y="3236976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$0.18–0.25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17920" y="38039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Match (batch)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0" y="380390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332720" y="3803904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$0.35–0.50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080760" y="4370832"/>
            <a:ext cx="5532120" cy="548640"/>
          </a:xfrm>
          <a:prstGeom prst="rect">
            <a:avLst/>
          </a:prstGeom>
          <a:solidFill>
            <a:srgbClr val="F3F7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17920" y="43708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a candidate · employer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509760" y="437083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0332720" y="437083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$0.70–1.00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217920" y="4937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check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509760" y="49377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15–30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0332720" y="49377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$0.53–1.50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080760" y="5806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accounts start with 50 free credits.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is nearly free to run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9659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~$0.003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serve one AI Apply*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25112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07992" y="19659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~$0.12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507992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charged for it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01584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84464" y="19659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~97%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284464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on Workers AI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48640" y="3794760"/>
          <a:ext cx="7315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8138160" y="3794760"/>
            <a:ext cx="3474720" cy="2651760"/>
          </a:xfrm>
          <a:prstGeom prst="roundRect">
            <a:avLst>
              <a:gd name="adj" fmla="val 4138"/>
            </a:avLst>
          </a:prstGeom>
          <a:solidFill>
            <a:srgbClr val="0F2138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66760" y="40690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 a full switch to a premium model keeps AI actions ~80% margin.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5349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credit price is decoupled from the model. Non-AI costs (Workers, KV, Vercel, Stripe) stay small and flat.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*Illustrative estimates — recompute from current vendor rates × real token counts.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AI MODEL CHANGES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Provider-agnostic by design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runs Cloudflare Workers AI or OpenAI and falls back automatically. Four levers if model cost rises: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63347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633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Absorb it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9077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 tolerate a flagship model (~80%).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0" y="263347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633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Re-price credits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9077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Apply 3 → 4 restores margin instantly.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405079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050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886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by model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3251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default; premium as a paid “Pro tailoring” upsell.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70332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83680" y="4050792"/>
            <a:ext cx="548640" cy="5486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4050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886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&amp; batch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43251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detail + match results already cached in KV.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solidFill>
            <a:srgbClr val="0F2138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result: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cost/AI action moves ~$0.003 → ~$0.02–0.03 worst case; blended margin stays ~80%+ with no price change, or ~95%+ with a 1-credit bump.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funnel — to validate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Seeker funnel · per 1,000 signups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(50 free credits)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172200" y="23957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9067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CV (60%)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383280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0E7C86">
              <a:alpha val="8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977640" y="33832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7822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paid AI action (25%)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70832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E7C86">
              <a:alpha val="76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057400" y="43708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657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a top-up (8%)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35838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2C39A">
              <a:alpha val="6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43000" y="535838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315200" y="2011680"/>
            <a:ext cx="4297680" cy="4114800"/>
          </a:xfrm>
          <a:prstGeom prst="roundRect">
            <a:avLst>
              <a:gd name="adj" fmla="val 2667"/>
            </a:avLst>
          </a:prstGeom>
          <a:solidFill>
            <a:srgbClr val="0F2138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0" y="221284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~$480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294436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signups from seekers (before repeat purchases)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589520" y="3703320"/>
            <a:ext cx="3749040" cy="0"/>
          </a:xfrm>
          <a:prstGeom prst="line">
            <a:avLst/>
          </a:prstGeom>
          <a:noFill/>
          <a:ln w="12700">
            <a:solidFill>
              <a:srgbClr val="17324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0" y="38221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~$160 / mo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433425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active employers × 10 unlocks × ~$0.80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0" y="4828032"/>
            <a:ext cx="3749040" cy="0"/>
          </a:xfrm>
          <a:prstGeom prst="line">
            <a:avLst/>
          </a:prstGeom>
          <a:noFill/>
          <a:ln w="12700">
            <a:solidFill>
              <a:srgbClr val="1732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0" y="4956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~$1,280 / mo blended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589520" y="5440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seekers + 40 employers · ~85% margin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assumptions to validate — not guarantees.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→ next → later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EAF6F3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8346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aggregation &amp; AI Apply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builder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match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unlock &amp; messaging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+ Stripe credits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45152" y="210312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0E7C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45152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28346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/ EcoCash top-ups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subscriptions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job posts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credits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delivery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01584" y="18288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8AA0B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21624" y="210312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5A6B82">
              <a:alpha val="4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21624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21624" y="28346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 analytics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integrations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expansion (SA first)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97680"/>
            <a:ext cx="4754880" cy="4754880"/>
          </a:xfrm>
          <a:prstGeom prst="ellipse">
            <a:avLst/>
          </a:prstGeom>
          <a:ln w="12700">
            <a:solidFill>
              <a:srgbClr val="02C39A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ln w="12700">
            <a:solidFill>
              <a:srgbClr val="02C39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09960" y="5715000"/>
            <a:ext cx="1920240" cy="192024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blank page to a sent, tailored application in minutes — and that verified applicant into a hire.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97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margins that work — because the AI is nearly free to run.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5212080"/>
            <a:ext cx="3840480" cy="685800"/>
          </a:xfrm>
          <a:prstGeom prst="roundRect">
            <a:avLst>
              <a:gd name="adj" fmla="val 49333"/>
            </a:avLst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build the region’s hiring layer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Job Assistant — Pitch</dc:title>
  <dc:subject>PptxGenJS Presentation</dc:subject>
  <dc:creator>Job Assistant</dc:creator>
  <cp:lastModifiedBy>Job Assistant</cp:lastModifiedBy>
  <cp:revision>1</cp:revision>
  <dcterms:created xsi:type="dcterms:W3CDTF">2026-09-07T14:22:45Z</dcterms:created>
  <dcterms:modified xsi:type="dcterms:W3CDTF">2026-09-07T14:22:45Z</dcterms:modified>
</cp:coreProperties>
</file>