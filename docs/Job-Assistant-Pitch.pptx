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63D"/>
                </a:solidFill>
                <a:latin typeface="Calibri"/>
              </a:defRPr>
            </a:pPr>
            <a:r>
              <a:rPr lang="en-ZW" sz="1300" b="0" i="0" u="none" strike="noStrike">
                <a:solidFill>
                  <a:srgbClr val="17263D"/>
                </a:solidFill>
                <a:latin typeface="Calibri"/>
              </a:rPr>
              <a:t>Gross margin per AI Apply, by model (est.)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D5-42B7-B561-12CB802FFA9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0D5-42B7-B561-12CB802FFA94}"/>
              </c:ext>
            </c:extLst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D5-42B7-B561-12CB802FFA94}"/>
              </c:ext>
            </c:extLst>
          </c:dPt>
          <c:dPt>
            <c:idx val="3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D5-42B7-B561-12CB802FFA94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26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Workers AI</c:v>
                </c:pt>
                <c:pt idx="1">
                  <c:v>GPT mini</c:v>
                </c:pt>
                <c:pt idx="2">
                  <c:v>GPT flagship</c:v>
                </c:pt>
                <c:pt idx="3">
                  <c:v>Claude Sonnet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98</c:v>
                </c:pt>
                <c:pt idx="2">
                  <c:v>83</c:v>
                </c:pt>
                <c:pt idx="3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0D5-42B7-B561-12CB802FFA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46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4754880" cy="4754880"/>
          </a:xfrm>
          <a:prstGeom prst="ellipse">
            <a:avLst/>
          </a:prstGeom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5120640"/>
            <a:ext cx="3108960" cy="3108960"/>
          </a:xfrm>
          <a:prstGeom prst="ellipse">
            <a:avLst/>
          </a:prstGeom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5715000"/>
            <a:ext cx="1920240" cy="192024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ASSISTANT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smarter.</a:t>
            </a:r>
            <a:endParaRPr lang="en-US" sz="5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faster.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AI talent marketplace for Zimbabwe &amp; Southern Africa.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526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AI-tailored applications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0128" y="4526280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0128" y="452628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candidates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45836" y="4526280"/>
            <a:ext cx="1860804" cy="457200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45836" y="4526280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gross margin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partner brief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1600200"/>
            <a:ext cx="4343400" cy="310696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88352" y="1627632"/>
            <a:ext cx="4288536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507224" y="169164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7662672" y="169164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818120" y="169164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0" descr="C:/Users/User/AppData/Local/Temp/claude/C--Users-User/ea6a698a-948e-482c-86db-1b1488ae8d08/scratchpad/shots/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865376"/>
            <a:ext cx="4288536" cy="27869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474373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jobs board — Apply or AI Apply on every role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is broken on both sides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E7C86">
              <a:alpha val="1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seekers apply blindly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832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CVs, no idea if they even match the role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first-timers have no CV at all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roles sit scattered across boards and expire unseen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574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96167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 drown in noise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38328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Piles of unqualified, unverified applicants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way to reach active, screened candidates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drags on and costs mount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doors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“I’m looking for work”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718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jobs, de-duplicated &amp; enriched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AI-tailored applications sent from your own Gmail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CV from scratch — no CV needed to start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Swipe-to-match + verification badges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0F2138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574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“I’m hiring”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9718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pool of profiled candidates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Swipe-to-shortlist the right people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Pay-to-unlock verified contact details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messaging, end to end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tailwinds line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cost collapsed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tailoring model on Cloudflare Workers AI costs a fraction of a cent per action — margins impossible two years ago.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148840"/>
            <a:ext cx="868680" cy="8686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7947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Zimbabwean job-board coverage, USD pricing with mobile money (Paynow/EcoCash) on the roadmap, Gmail-native sending employers trust.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2148840"/>
            <a:ext cx="868680" cy="86868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21624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21624" y="3200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Two-sided moat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37947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verified candidate makes the employer side more valuable — and every employer makes the seeker side more valuable.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today 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56432" cy="2161601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444752"/>
            <a:ext cx="3401568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50876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15087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087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0" descr="C:/Users/User/AppData/Local/Temp/claude/C--Users-User/ea6a698a-948e-482c-86db-1b1488ae8d08/scratchpad/shots/tour/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55064"/>
            <a:ext cx="3401568" cy="18689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615497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— “looking for work” or “hiring”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0832" y="1417320"/>
            <a:ext cx="3456432" cy="2161601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98264" y="1444752"/>
            <a:ext cx="3401568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3" name="Shape 10"/>
          <p:cNvSpPr/>
          <p:nvPr/>
        </p:nvSpPr>
        <p:spPr>
          <a:xfrm>
            <a:off x="4517136" y="150876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1"/>
          <p:cNvSpPr/>
          <p:nvPr/>
        </p:nvSpPr>
        <p:spPr>
          <a:xfrm>
            <a:off x="4672584" y="15087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2"/>
          <p:cNvSpPr/>
          <p:nvPr/>
        </p:nvSpPr>
        <p:spPr>
          <a:xfrm>
            <a:off x="4828032" y="15087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1" descr="C:/Users/User/AppData/Local/Temp/claude/C--Users-User/ea6a698a-948e-482c-86db-1b1488ae8d08/scratchpad/shots/tour/j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1655064"/>
            <a:ext cx="3401568" cy="186899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279392" y="3615497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board — Apply / AI Apply / View / Source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93024" y="1417320"/>
            <a:ext cx="3456432" cy="2161601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0456" y="1444752"/>
            <a:ext cx="3401568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0" name="Shape 16"/>
          <p:cNvSpPr/>
          <p:nvPr/>
        </p:nvSpPr>
        <p:spPr>
          <a:xfrm>
            <a:off x="8339328" y="150876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Shape 17"/>
          <p:cNvSpPr/>
          <p:nvPr/>
        </p:nvSpPr>
        <p:spPr>
          <a:xfrm>
            <a:off x="8494776" y="15087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Shape 18"/>
          <p:cNvSpPr/>
          <p:nvPr/>
        </p:nvSpPr>
        <p:spPr>
          <a:xfrm>
            <a:off x="8650224" y="15087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2" descr="C:/Users/User/AppData/Local/Temp/claude/C--Users-User/ea6a698a-948e-482c-86db-1b1488ae8d08/scratchpad/shots/tour/swi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1655064"/>
            <a:ext cx="3401568" cy="186899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101584" y="3615497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2 Match — right to apply, left to skip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4069080"/>
            <a:ext cx="3456432" cy="2161601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76072" y="4096512"/>
            <a:ext cx="3401568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7" name="Shape 22"/>
          <p:cNvSpPr/>
          <p:nvPr/>
        </p:nvSpPr>
        <p:spPr>
          <a:xfrm>
            <a:off x="694944" y="416052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Shape 23"/>
          <p:cNvSpPr/>
          <p:nvPr/>
        </p:nvSpPr>
        <p:spPr>
          <a:xfrm>
            <a:off x="850392" y="41605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Shape 24"/>
          <p:cNvSpPr/>
          <p:nvPr/>
        </p:nvSpPr>
        <p:spPr>
          <a:xfrm>
            <a:off x="1005840" y="416052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3" descr="C:/Users/User/AppData/Local/Temp/claude/C--Users-User/ea6a698a-948e-482c-86db-1b1488ae8d08/scratchpad/shots/tour/cvbuil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4306824"/>
            <a:ext cx="3401568" cy="186899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57200" y="6267257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 — no CV? build one in minutes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370832" y="4069080"/>
            <a:ext cx="3456432" cy="2161601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398264" y="4096512"/>
            <a:ext cx="3401568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Shape 28"/>
          <p:cNvSpPr/>
          <p:nvPr/>
        </p:nvSpPr>
        <p:spPr>
          <a:xfrm>
            <a:off x="4517136" y="416052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Shape 29"/>
          <p:cNvSpPr/>
          <p:nvPr/>
        </p:nvSpPr>
        <p:spPr>
          <a:xfrm>
            <a:off x="4672584" y="41605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Shape 30"/>
          <p:cNvSpPr/>
          <p:nvPr/>
        </p:nvSpPr>
        <p:spPr>
          <a:xfrm>
            <a:off x="4828032" y="416052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7" name="Image 4" descr="C:/Users/User/AppData/Local/Temp/claude/C--Users-User/ea6a698a-948e-482c-86db-1b1488ae8d08/scratchpad/shots/tour/nearb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64" y="4306824"/>
            <a:ext cx="3401568" cy="1868993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279392" y="6267257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Near Me — radar by city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8193024" y="4069080"/>
            <a:ext cx="3456432" cy="2161601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220456" y="4096512"/>
            <a:ext cx="3401568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1" name="Shape 34"/>
          <p:cNvSpPr/>
          <p:nvPr/>
        </p:nvSpPr>
        <p:spPr>
          <a:xfrm>
            <a:off x="8339328" y="416052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2" name="Shape 35"/>
          <p:cNvSpPr/>
          <p:nvPr/>
        </p:nvSpPr>
        <p:spPr>
          <a:xfrm>
            <a:off x="8494776" y="41605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3" name="Shape 36"/>
          <p:cNvSpPr/>
          <p:nvPr/>
        </p:nvSpPr>
        <p:spPr>
          <a:xfrm>
            <a:off x="8650224" y="416052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4" name="Image 5" descr="C:/Users/User/AppData/Local/Temp/claude/C--Users-User/ea6a698a-948e-482c-86db-1b1488ae8d08/scratchpad/shots/tour/emplo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0456" y="4306824"/>
            <a:ext cx="3401568" cy="1868993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8101584" y="6267257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— register, vet, unlock, hire</a:t>
            </a:r>
            <a:endParaRPr lang="en-US" sz="1150" dirty="0"/>
          </a:p>
        </p:txBody>
      </p:sp>
      <p:sp>
        <p:nvSpPr>
          <p:cNvPr id="46" name="Text 38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JOB SEEKER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blank page to sent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658368"/>
          </a:xfrm>
          <a:prstGeom prst="roundRect">
            <a:avLst>
              <a:gd name="adj" fmla="val 13889"/>
            </a:avLst>
          </a:prstGeom>
          <a:solidFill>
            <a:srgbClr val="EAF6F3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856232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build a CV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783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61488" y="1691640"/>
            <a:ext cx="2084832" cy="658368"/>
          </a:xfrm>
          <a:prstGeom prst="roundRect">
            <a:avLst>
              <a:gd name="adj" fmla="val 13889"/>
            </a:avLst>
          </a:prstGeom>
          <a:solidFill>
            <a:srgbClr val="F3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2907792" y="1856232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07792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10128" y="169164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swipe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818888" y="1783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74336" y="1691640"/>
            <a:ext cx="2084832" cy="658368"/>
          </a:xfrm>
          <a:prstGeom prst="roundRect">
            <a:avLst>
              <a:gd name="adj" fmla="val 13889"/>
            </a:avLst>
          </a:prstGeom>
          <a:solidFill>
            <a:srgbClr val="EAF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1856232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522976" y="169164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Apply  /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Apply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1783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187184" y="1691640"/>
            <a:ext cx="2084832" cy="658368"/>
          </a:xfrm>
          <a:prstGeom prst="roundRect">
            <a:avLst>
              <a:gd name="adj" fmla="val 13889"/>
            </a:avLst>
          </a:prstGeom>
          <a:solidFill>
            <a:srgbClr val="F3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33488" y="1856232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33488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35824" y="169164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from Gmail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1783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00032" y="1691640"/>
            <a:ext cx="2084832" cy="658368"/>
          </a:xfrm>
          <a:prstGeom prst="roundRect">
            <a:avLst>
              <a:gd name="adj" fmla="val 13889"/>
            </a:avLst>
          </a:prstGeom>
          <a:solidFill>
            <a:srgbClr val="EAF6F3"/>
          </a:solidFill>
          <a:ln/>
        </p:spPr>
      </p:sp>
      <p:sp>
        <p:nvSpPr>
          <p:cNvPr id="25" name="Shape 23"/>
          <p:cNvSpPr/>
          <p:nvPr/>
        </p:nvSpPr>
        <p:spPr>
          <a:xfrm>
            <a:off x="9546336" y="1856232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46336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948672" y="1691640"/>
            <a:ext cx="1490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tracked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2697480"/>
            <a:ext cx="5486400" cy="3857053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" y="2724912"/>
            <a:ext cx="5431536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278892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" y="27889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" y="278892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3" name="Image 0" descr="C:/Users/User/AppData/Local/Temp/claude/C--Users-User/ea6a698a-948e-482c-86db-1b1488ae8d08/scratchpad/shots/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935224"/>
            <a:ext cx="5431536" cy="3564446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457200" y="659111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job: Apply (free, your CV) or AI Apply (3 cr, tailored)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355080" y="2697480"/>
            <a:ext cx="5257800" cy="3707035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82512" y="2724912"/>
            <a:ext cx="5202936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7" name="Shape 34"/>
          <p:cNvSpPr/>
          <p:nvPr/>
        </p:nvSpPr>
        <p:spPr>
          <a:xfrm>
            <a:off x="6501384" y="278892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8" name="Shape 35"/>
          <p:cNvSpPr/>
          <p:nvPr/>
        </p:nvSpPr>
        <p:spPr>
          <a:xfrm>
            <a:off x="6656832" y="27889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Shape 36"/>
          <p:cNvSpPr/>
          <p:nvPr/>
        </p:nvSpPr>
        <p:spPr>
          <a:xfrm>
            <a:off x="6812280" y="278892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0" name="Image 1" descr="C:/Users/User/AppData/Local/Temp/claude/C--Users-User/ea6a698a-948e-482c-86db-1b1488ae8d08/scratchpad/shots/swi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935224"/>
            <a:ext cx="5202936" cy="3414427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6263640" y="6441091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2 Match — a Tinder-style deck for jobs</a:t>
            </a:r>
            <a:endParaRPr lang="en-US" sz="1150" dirty="0"/>
          </a:p>
        </p:txBody>
      </p:sp>
      <p:sp>
        <p:nvSpPr>
          <p:cNvPr id="42" name="Text 38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EMPLOYER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→ discover → unlock → hire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37960" cy="932688"/>
          </a:xfrm>
          <a:prstGeom prst="roundRect">
            <a:avLst>
              <a:gd name="adj" fmla="val 1176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0824"/>
            <a:ext cx="548640" cy="5486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568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&amp; get approved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134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+ verification doc reviewed by an admin before any unlock.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9504"/>
            <a:ext cx="6537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81528"/>
            <a:ext cx="548640" cy="5486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175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candidates by sector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741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cards with skills + verified badges.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6537960" cy="932688"/>
          </a:xfrm>
          <a:prstGeom prst="roundRect">
            <a:avLst>
              <a:gd name="adj" fmla="val 1176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42232"/>
            <a:ext cx="548640" cy="5486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782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Swipe to shortlist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34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 swipe deck to shortlist fast.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10912"/>
            <a:ext cx="65379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02936"/>
            <a:ext cx="548640" cy="5486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202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1389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 &amp; message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955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contact spends credits — the core revenue event — then chat in-app.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60920" y="1965960"/>
            <a:ext cx="4297680" cy="3076956"/>
          </a:xfrm>
          <a:prstGeom prst="roundRect">
            <a:avLst>
              <a:gd name="adj" fmla="val 208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88352" y="1993392"/>
            <a:ext cx="4242816" cy="21031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507224" y="205740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Shape 25"/>
          <p:cNvSpPr/>
          <p:nvPr/>
        </p:nvSpPr>
        <p:spPr>
          <a:xfrm>
            <a:off x="7662672" y="20574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Shape 26"/>
          <p:cNvSpPr/>
          <p:nvPr/>
        </p:nvSpPr>
        <p:spPr>
          <a:xfrm>
            <a:off x="7818120" y="205740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9" name="Image 0" descr="C:/Users/User/AppData/Local/Temp/claude/C--Users-User/ea6a698a-948e-482c-86db-1b1488ae8d08/scratchpad/shots/emplo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203704"/>
            <a:ext cx="4242816" cy="278434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269480" y="50794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marketplace — the employer entry point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Prepaid credits — spend on what matters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packs (live)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0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286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4472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04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0F2138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681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38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47548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credits are spent on (live)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2103120"/>
            <a:ext cx="5532120" cy="548640"/>
          </a:xfrm>
          <a:prstGeom prst="rect">
            <a:avLst/>
          </a:prstGeom>
          <a:solidFill>
            <a:srgbClr val="0F21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2103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21031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USD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6700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Apply — tailor CV + note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6700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33272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$0.11–0.15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3236976"/>
            <a:ext cx="5532120" cy="54864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2369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all jobs to my CV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32369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323697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$0.18–0.25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8039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Match (batch)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38039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332720" y="380390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$0.35–0.50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80760" y="4370832"/>
            <a:ext cx="5532120" cy="54864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0" y="4370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 candidate · employer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43708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332720" y="43708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$0.70–1.00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4937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509760" y="4937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332720" y="4937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$0.53–1.50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0807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start with 50 free credits.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is nearly free to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~$0.003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serve one AI Apply*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7830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07992" y="1965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~$0.12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07992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charged for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7830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84464" y="1965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~97%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on Workers AI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794760"/>
          <a:ext cx="73152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8138160" y="379476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0F2138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66760" y="40690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a full switch to a premium model keeps AI actions ~80% margin.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5349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credit price is decoupled from the model. Non-AI costs (Workers, KV, Vercel, Stripe) stay small and flat.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estimates — recompute from current vendor rates × real token counts.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MODEL CHANGES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Provider-agnostic by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runs Cloudflare Workers AI or OpenAI and falls back automatically. Four levers if model cost rises: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3347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Absorb it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907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tolerate a flagship model (~80%).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63347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Re-price credits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907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Apply 3 → 4 restores margin instantly.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05079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by model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3251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default; premium as a paid “Pro tailoring” upsell.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7033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05079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&amp; batch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3251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 + match results already cached in KV.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solidFill>
            <a:srgbClr val="0F2138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cost/AI action moves ~$0.003 → ~$0.02–0.03 worst case; blended margin stays ~80%+ with no price change, or ~95%+ with a 1-credit bump.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funnel — to validate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funnel · per 1,000 signups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(50 free credits)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172200" y="23957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906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CV (60%)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0E7C86">
              <a:alpha val="8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7764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782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paid AI action (25%)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0E7C86">
              <a:alpha val="76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57400" y="43708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657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 top-up (8%)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583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C39A">
              <a:alpha val="64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53583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0" y="2011680"/>
            <a:ext cx="4297680" cy="4114800"/>
          </a:xfrm>
          <a:prstGeom prst="roundRect">
            <a:avLst>
              <a:gd name="adj" fmla="val 2667"/>
            </a:avLst>
          </a:prstGeom>
          <a:solidFill>
            <a:srgbClr val="0F2138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9520" y="22128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~$480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944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signups from seekers (before repeat purchases)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0" y="3703320"/>
            <a:ext cx="3749040" cy="0"/>
          </a:xfrm>
          <a:prstGeom prst="line">
            <a:avLst/>
          </a:prstGeom>
          <a:noFill/>
          <a:ln w="12700">
            <a:solidFill>
              <a:srgbClr val="1732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38221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~$160 / mo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43342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active employers × 10 unlocks × ~$0.80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4828032"/>
            <a:ext cx="3749040" cy="0"/>
          </a:xfrm>
          <a:prstGeom prst="line">
            <a:avLst/>
          </a:prstGeom>
          <a:noFill/>
          <a:ln w="12700">
            <a:solidFill>
              <a:srgbClr val="1732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4956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~$1,280 / mo blended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seekers + 40 employers · ~85% margin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assumptions to validate — not guarantees.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→ next → later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EAF6F3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aggregation &amp; AI Apply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match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unlock &amp; messaging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Stripe credits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210312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5152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8346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/ EcoCash top-ups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subscriptions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job posts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credits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delivery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8288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3F7FB"/>
          </a:solidFill>
          <a:ln/>
          <a:effectLst>
            <a:outerShdw blurRad="101600" dist="38100" dir="5400000" algn="bl" rotWithShape="0">
              <a:srgbClr val="8AA0B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21624" y="210312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5A6B82">
              <a:alpha val="4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21624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21624" y="28346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analytics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integrations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 (SA first)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4754880" cy="4754880"/>
          </a:xfrm>
          <a:prstGeom prst="ellipse">
            <a:avLst/>
          </a:prstGeom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5120640"/>
            <a:ext cx="3108960" cy="3108960"/>
          </a:xfrm>
          <a:prstGeom prst="ellipse">
            <a:avLst/>
          </a:prstGeom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5715000"/>
            <a:ext cx="1920240" cy="192024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blank page to a sent, tailored application in minutes — and that verified applicant into a hire.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margins that work — because the AI is nearly free to run.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3840480" cy="685800"/>
          </a:xfrm>
          <a:prstGeom prst="roundRect">
            <a:avLst>
              <a:gd name="adj" fmla="val 49333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212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build the region’s hiring layer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985</Words>
  <Application>Microsoft Office PowerPoint</Application>
  <PresentationFormat>Widescreen</PresentationFormat>
  <Paragraphs>212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Assistant — Pitch</dc:title>
  <dc:subject>PptxGenJS Presentation</dc:subject>
  <dc:creator>Job Assistant</dc:creator>
  <cp:lastModifiedBy>Ngonidzashe Maphosa</cp:lastModifiedBy>
  <cp:revision>2</cp:revision>
  <dcterms:created xsi:type="dcterms:W3CDTF">2026-09-07T18:24:07Z</dcterms:created>
  <dcterms:modified xsi:type="dcterms:W3CDTF">2026-09-08T08:04:39Z</dcterms:modified>
</cp:coreProperties>
</file>