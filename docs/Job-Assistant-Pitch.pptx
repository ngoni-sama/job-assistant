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6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263D"/>
                </a:solidFill>
                <a:latin typeface="Calibri"/>
              </a:rPr>
              <a:t>Gross margin per AI Apply, by model (est.)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6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Workers AI</c:v>
                  </c:pt>
                  <c:pt idx="1">
                    <c:v>GPT mini</c:v>
                  </c:pt>
                  <c:pt idx="2">
                    <c:v>GPT flagship</c:v>
                  </c:pt>
                  <c:pt idx="3">
                    <c:v>Claude Sonnet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98</c:v>
                </c:pt>
                <c:pt idx="2">
                  <c:v>83</c:v>
                </c:pt>
                <c:pt idx="3">
                  <c:v>79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726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754880" cy="4754880"/>
          </a:xfrm>
          <a:prstGeom prst="ellipse">
            <a:avLst/>
          </a:prstGeom>
          <a:ln w="12700">
            <a:solidFill>
              <a:srgbClr val="02C39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ln w="12700">
            <a:solidFill>
              <a:srgbClr val="02C39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5715000"/>
            <a:ext cx="1920240" cy="19202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ASSISTANT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smarter.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 faster.</a:t>
            </a:r>
            <a:endParaRPr lang="en-US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two-sided AI talent marketplace for Zimbabwe &amp; Southern Africa.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526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AI-tailored applications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0128" y="4526280"/>
            <a:ext cx="20345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10128" y="4526280"/>
            <a:ext cx="203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candidates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45836" y="4526280"/>
            <a:ext cx="1860804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45836" y="452628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~85% gross margin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&amp; partner brief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60920" y="1600200"/>
            <a:ext cx="4343400" cy="3106960"/>
          </a:xfrm>
          <a:prstGeom prst="roundRect">
            <a:avLst>
              <a:gd name="adj" fmla="val 2060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88352" y="1627632"/>
            <a:ext cx="4288536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7507224" y="169164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Shape 16"/>
          <p:cNvSpPr/>
          <p:nvPr/>
        </p:nvSpPr>
        <p:spPr>
          <a:xfrm>
            <a:off x="7662672" y="169164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7"/>
          <p:cNvSpPr/>
          <p:nvPr/>
        </p:nvSpPr>
        <p:spPr>
          <a:xfrm>
            <a:off x="7818120" y="169164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0" descr="C:/Users/User/AppData/Local/Temp/claude/C--Users-User/ea6a698a-948e-482c-86db-1b1488ae8d08/scratchpad/shots/jo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1837944"/>
            <a:ext cx="4288536" cy="281435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269480" y="47437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jobs board — Apply or AI Apply on every role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is broken on both sides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7C86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seekers apply blindly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8328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CVs, no idea if they even match the role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first-timers have no CV at all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roles sit scattered across boards and expire unseen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057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96167">
              <a:alpha val="1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Employers drown in noise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38328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Piles of unqualified, unverified applicants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 reach active, screened candidates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drags on and costs mount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two doors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“I’m looking for work”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718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jobs, de-duplicated &amp; enriched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AI-tailored applications sent from your own Gmail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CV from scratch — no CV needed to start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Swipe-to-match + verification badges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0574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“I’m hiring”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718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pool of profiled candidates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Swipe-to-shortlist the right people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Pay-to-unlock verified contact details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messaging, end to end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tailwinds line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cost collapsed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tailoring model on Cloudflare Workers AI costs a fraction of a cent per action — margins impossible two years ago.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45152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5152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Zimbabwean job-board coverage, USD pricing with mobile money (Paynow/EcoCash) on the roadmap, Gmail-native sending employers trust.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01584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21624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21624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21624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Two-sided moat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verified candidate makes the employer side more valuable — and every employer makes the seeker side more valuable.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today — not a mockup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76072" y="144475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50876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50876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9" name="Image 0" descr="C:/Users/User/AppData/Local/Temp/claude/C--Users-User/ea6a698a-948e-482c-86db-1b1488ae8d08/scratchpad/shots/tour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5064"/>
            <a:ext cx="3401568" cy="18689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1549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— “looking for work” or “hiring”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0832" y="141732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98264" y="144475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13" name="Shape 10"/>
          <p:cNvSpPr/>
          <p:nvPr/>
        </p:nvSpPr>
        <p:spPr>
          <a:xfrm>
            <a:off x="4517136" y="150876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4" name="Shape 11"/>
          <p:cNvSpPr/>
          <p:nvPr/>
        </p:nvSpPr>
        <p:spPr>
          <a:xfrm>
            <a:off x="4672584" y="150876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Shape 12"/>
          <p:cNvSpPr/>
          <p:nvPr/>
        </p:nvSpPr>
        <p:spPr>
          <a:xfrm>
            <a:off x="4828032" y="150876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6" name="Image 1" descr="C:/Users/User/AppData/Local/Temp/claude/C--Users-User/ea6a698a-948e-482c-86db-1b1488ae8d08/scratchpad/shots/tour/jo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655064"/>
            <a:ext cx="3401568" cy="18689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279392" y="361549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board — Apply / AI Apply / View / Source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93024" y="141732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0456" y="144475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339328" y="150876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Shape 17"/>
          <p:cNvSpPr/>
          <p:nvPr/>
        </p:nvSpPr>
        <p:spPr>
          <a:xfrm>
            <a:off x="8494776" y="150876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Shape 18"/>
          <p:cNvSpPr/>
          <p:nvPr/>
        </p:nvSpPr>
        <p:spPr>
          <a:xfrm>
            <a:off x="8650224" y="150876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3" name="Image 2" descr="C:/Users/User/AppData/Local/Temp/claude/C--Users-User/ea6a698a-948e-482c-86db-1b1488ae8d08/scratchpad/shots/tour/swip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1655064"/>
            <a:ext cx="3401568" cy="186899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101584" y="361549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2 Match — right to apply, left to skip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76072" y="409651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7" name="Shape 22"/>
          <p:cNvSpPr/>
          <p:nvPr/>
        </p:nvSpPr>
        <p:spPr>
          <a:xfrm>
            <a:off x="694944" y="416052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8" name="Shape 23"/>
          <p:cNvSpPr/>
          <p:nvPr/>
        </p:nvSpPr>
        <p:spPr>
          <a:xfrm>
            <a:off x="850392" y="41605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9" name="Shape 24"/>
          <p:cNvSpPr/>
          <p:nvPr/>
        </p:nvSpPr>
        <p:spPr>
          <a:xfrm>
            <a:off x="1005840" y="416052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0" name="Image 3" descr="C:/Users/User/AppData/Local/Temp/claude/C--Users-User/ea6a698a-948e-482c-86db-1b1488ae8d08/scratchpad/shots/tour/cvbuil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306824"/>
            <a:ext cx="3401568" cy="186899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57200" y="626725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Builder — no CV? build one in minutes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4370832" y="406908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398264" y="409651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4" name="Shape 28"/>
          <p:cNvSpPr/>
          <p:nvPr/>
        </p:nvSpPr>
        <p:spPr>
          <a:xfrm>
            <a:off x="4517136" y="416052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Shape 29"/>
          <p:cNvSpPr/>
          <p:nvPr/>
        </p:nvSpPr>
        <p:spPr>
          <a:xfrm>
            <a:off x="4672584" y="41605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0"/>
          <p:cNvSpPr/>
          <p:nvPr/>
        </p:nvSpPr>
        <p:spPr>
          <a:xfrm>
            <a:off x="4828032" y="416052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7" name="Image 4" descr="C:/Users/User/AppData/Local/Temp/claude/C--Users-User/ea6a698a-948e-482c-86db-1b1488ae8d08/scratchpad/shots/tour/nearb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264" y="4306824"/>
            <a:ext cx="3401568" cy="1868993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279392" y="626725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Near Me — radar by city</a:t>
            </a:r>
            <a:endParaRPr lang="en-US" sz="1150" dirty="0"/>
          </a:p>
        </p:txBody>
      </p:sp>
      <p:sp>
        <p:nvSpPr>
          <p:cNvPr id="39" name="Shape 32"/>
          <p:cNvSpPr/>
          <p:nvPr/>
        </p:nvSpPr>
        <p:spPr>
          <a:xfrm>
            <a:off x="8193024" y="4069080"/>
            <a:ext cx="3456432" cy="2161601"/>
          </a:xfrm>
          <a:prstGeom prst="roundRect">
            <a:avLst>
              <a:gd name="adj" fmla="val 296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8220456" y="4096512"/>
            <a:ext cx="3401568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41" name="Shape 34"/>
          <p:cNvSpPr/>
          <p:nvPr/>
        </p:nvSpPr>
        <p:spPr>
          <a:xfrm>
            <a:off x="8339328" y="416052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2" name="Shape 35"/>
          <p:cNvSpPr/>
          <p:nvPr/>
        </p:nvSpPr>
        <p:spPr>
          <a:xfrm>
            <a:off x="8494776" y="41605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3" name="Shape 36"/>
          <p:cNvSpPr/>
          <p:nvPr/>
        </p:nvSpPr>
        <p:spPr>
          <a:xfrm>
            <a:off x="8650224" y="416052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4" name="Image 5" descr="C:/Users/User/AppData/Local/Temp/claude/C--Users-User/ea6a698a-948e-482c-86db-1b1488ae8d08/scratchpad/shots/tour/employ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4306824"/>
            <a:ext cx="3401568" cy="1868993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8101584" y="6267257"/>
            <a:ext cx="3639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— register, vet, unlock, hire</a:t>
            </a:r>
            <a:endParaRPr lang="en-US" sz="1150" dirty="0"/>
          </a:p>
        </p:txBody>
      </p:sp>
      <p:sp>
        <p:nvSpPr>
          <p:cNvPr id="46" name="Text 38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JOB SEEKER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blank page to sent application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84832" cy="658368"/>
          </a:xfrm>
          <a:prstGeom prst="roundRect">
            <a:avLst>
              <a:gd name="adj" fmla="val 13889"/>
            </a:avLst>
          </a:prstGeom>
          <a:solidFill>
            <a:srgbClr val="EAF6F3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856232"/>
            <a:ext cx="329184" cy="32918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4944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91640"/>
            <a:ext cx="1490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or build a CV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783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61488" y="1691640"/>
            <a:ext cx="2084832" cy="658368"/>
          </a:xfrm>
          <a:prstGeom prst="roundRect">
            <a:avLst>
              <a:gd name="adj" fmla="val 13889"/>
            </a:avLst>
          </a:prstGeom>
          <a:solidFill>
            <a:srgbClr val="F3F7FB"/>
          </a:solidFill>
          <a:ln/>
        </p:spPr>
      </p:sp>
      <p:sp>
        <p:nvSpPr>
          <p:cNvPr id="10" name="Shape 8"/>
          <p:cNvSpPr/>
          <p:nvPr/>
        </p:nvSpPr>
        <p:spPr>
          <a:xfrm>
            <a:off x="2907792" y="1856232"/>
            <a:ext cx="329184" cy="32918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07792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691640"/>
            <a:ext cx="1490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swipe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18888" y="1783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974336" y="1691640"/>
            <a:ext cx="2084832" cy="658368"/>
          </a:xfrm>
          <a:prstGeom prst="roundRect">
            <a:avLst>
              <a:gd name="adj" fmla="val 13889"/>
            </a:avLst>
          </a:prstGeom>
          <a:solidFill>
            <a:srgbClr val="EAF6F3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856232"/>
            <a:ext cx="329184" cy="32918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522976" y="1691640"/>
            <a:ext cx="1490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/ AI Apply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1783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87184" y="1691640"/>
            <a:ext cx="2084832" cy="658368"/>
          </a:xfrm>
          <a:prstGeom prst="roundRect">
            <a:avLst>
              <a:gd name="adj" fmla="val 13889"/>
            </a:avLst>
          </a:prstGeom>
          <a:solidFill>
            <a:srgbClr val="F3F7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333488" y="1856232"/>
            <a:ext cx="329184" cy="32918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33488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35824" y="1691640"/>
            <a:ext cx="1490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from Gmail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1783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00032" y="1691640"/>
            <a:ext cx="2084832" cy="658368"/>
          </a:xfrm>
          <a:prstGeom prst="roundRect">
            <a:avLst>
              <a:gd name="adj" fmla="val 13889"/>
            </a:avLst>
          </a:prstGeom>
          <a:solidFill>
            <a:srgbClr val="EAF6F3"/>
          </a:solidFill>
          <a:ln/>
        </p:spPr>
      </p:sp>
      <p:sp>
        <p:nvSpPr>
          <p:cNvPr id="25" name="Shape 23"/>
          <p:cNvSpPr/>
          <p:nvPr/>
        </p:nvSpPr>
        <p:spPr>
          <a:xfrm>
            <a:off x="9546336" y="1856232"/>
            <a:ext cx="329184" cy="32918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46336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948672" y="1691640"/>
            <a:ext cx="1490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&amp; tracked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2697480"/>
            <a:ext cx="5486400" cy="3857053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6072" y="2724912"/>
            <a:ext cx="5431536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278892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Shape 29"/>
          <p:cNvSpPr/>
          <p:nvPr/>
        </p:nvSpPr>
        <p:spPr>
          <a:xfrm>
            <a:off x="850392" y="27889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5840" y="278892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3" name="Image 0" descr="C:/Users/User/AppData/Local/Temp/claude/C--Users-User/ea6a698a-948e-482c-86db-1b1488ae8d08/scratchpad/shots/jo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935224"/>
            <a:ext cx="5431536" cy="3564446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457200" y="659111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job: Apply (free, your CV) or AI Apply (3 cr, tailored)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355080" y="2697480"/>
            <a:ext cx="5257800" cy="3707035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82512" y="2724912"/>
            <a:ext cx="5202936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37" name="Shape 34"/>
          <p:cNvSpPr/>
          <p:nvPr/>
        </p:nvSpPr>
        <p:spPr>
          <a:xfrm>
            <a:off x="6501384" y="278892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8" name="Shape 35"/>
          <p:cNvSpPr/>
          <p:nvPr/>
        </p:nvSpPr>
        <p:spPr>
          <a:xfrm>
            <a:off x="6656832" y="27889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Shape 36"/>
          <p:cNvSpPr/>
          <p:nvPr/>
        </p:nvSpPr>
        <p:spPr>
          <a:xfrm>
            <a:off x="6812280" y="278892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40" name="Image 1" descr="C:/Users/User/AppData/Local/Temp/claude/C--Users-User/ea6a698a-948e-482c-86db-1b1488ae8d08/scratchpad/shots/swi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935224"/>
            <a:ext cx="5202936" cy="3414427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6263640" y="6441091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2 Match — a Tinder-style deck for jobs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EMPLOYER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→ discover → unlock → hire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537960" cy="932688"/>
          </a:xfrm>
          <a:prstGeom prst="roundRect">
            <a:avLst>
              <a:gd name="adj" fmla="val 117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20824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5681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&amp; get approved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134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+ verification doc reviewed by an admin before any unlock.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89504"/>
            <a:ext cx="65379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81528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0175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candidates by sector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3741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Profiled cards with skills + verified badges.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6537960" cy="932688"/>
          </a:xfrm>
          <a:prstGeom prst="roundRect">
            <a:avLst>
              <a:gd name="adj" fmla="val 117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42232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Swipe to shortlist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348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recruiter swipe deck to shortlist fast.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10912"/>
            <a:ext cx="653796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202936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13892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&amp; message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4955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Revealing contact spends credits — the core revenue event — then chat in-app.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360920" y="1965960"/>
            <a:ext cx="4297680" cy="3076956"/>
          </a:xfrm>
          <a:prstGeom prst="roundRect">
            <a:avLst>
              <a:gd name="adj" fmla="val 2080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88352" y="1993392"/>
            <a:ext cx="4242816" cy="210312"/>
          </a:xfrm>
          <a:prstGeom prst="rect">
            <a:avLst/>
          </a:prstGeom>
          <a:solidFill>
            <a:srgbClr val="ED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507224" y="2057400"/>
            <a:ext cx="82296" cy="822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Shape 25"/>
          <p:cNvSpPr/>
          <p:nvPr/>
        </p:nvSpPr>
        <p:spPr>
          <a:xfrm>
            <a:off x="7662672" y="205740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Shape 26"/>
          <p:cNvSpPr/>
          <p:nvPr/>
        </p:nvSpPr>
        <p:spPr>
          <a:xfrm>
            <a:off x="7818120" y="2057400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9" name="Image 0" descr="C:/Users/User/AppData/Local/Temp/claude/C--Users-User/ea6a698a-948e-482c-86db-1b1488ae8d08/scratchpad/shots/emplo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2203704"/>
            <a:ext cx="4242816" cy="2784348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7269480" y="50794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marketplace — the employer entry point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Prepaid credits — spend on what matters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packs (live)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Starter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70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447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04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cr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5204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681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389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4754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credits are spent on (live)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80760" y="2103120"/>
            <a:ext cx="5532120" cy="548640"/>
          </a:xfrm>
          <a:prstGeom prst="rect">
            <a:avLst/>
          </a:prstGeom>
          <a:solidFill>
            <a:srgbClr val="0F213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0" y="21031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1031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Apply — tailor CV + note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26700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332720" y="267004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$0.11–0.15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80760" y="3236976"/>
            <a:ext cx="5532120" cy="548640"/>
          </a:xfrm>
          <a:prstGeom prst="rect">
            <a:avLst/>
          </a:prstGeom>
          <a:solidFill>
            <a:srgbClr val="F3F7F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7920" y="32369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all jobs to my CV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323697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323697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$0.18–0.25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8039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(batch)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38039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0" y="380390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$0.35–0.50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080760" y="4370832"/>
            <a:ext cx="5532120" cy="548640"/>
          </a:xfrm>
          <a:prstGeom prst="rect">
            <a:avLst/>
          </a:prstGeom>
          <a:solidFill>
            <a:srgbClr val="F3F7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4370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a candidate · employer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509760" y="437083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332720" y="4370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$0.70–1.00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217920" y="4937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check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09760" y="49377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0332720" y="49377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$0.53–1.50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start with 50 free credits.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is nearly free to run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serve one AI Apply*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07992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~$0.12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07992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charged for 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84464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284464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on Workers AI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" y="379476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8138160" y="379476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66760" y="4069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a full switch to a premium model keeps AI actions ~80% margin.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5349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price is decoupled from the model. Non-AI costs (Workers, KV, Vercel, Stripe) stay small and flat.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estimates — recompute from current vendor rates × real token counts.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MODEL CHANGES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Provider-agnostic by design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runs Cloudflare Workers AI or OpenAI and falls back automatically. Four levers if model cost rises: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Absorb it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077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 tolerate a flagship model (~80%).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6334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Re-price credits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9077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Apply 3 → 4 restores margin instantly.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5079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050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by model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default; premium as a paid “Pro tailoring” upsell.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0332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0" y="405079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050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&amp; batch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detail + match results already cached in KV.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solidFill>
            <a:srgbClr val="0F2138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result: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cost/AI action moves ~$0.003 → ~$0.02–0.03 worst case; blended margin stays ~80%+ with no price change, or ~95%+ with a 1-credit bump.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funnel — to validate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 funnel · per 1,000 signups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(50 free credits)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172200" y="2395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06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CV (60%)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0E7C86">
              <a:alpha val="8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977640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78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paid AI action (25%)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083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E7C86">
              <a:alpha val="7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57400" y="43708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657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a top-up (8%)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35838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2C39A">
              <a:alpha val="6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535838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15200" y="2011680"/>
            <a:ext cx="4297680" cy="4114800"/>
          </a:xfrm>
          <a:prstGeom prst="roundRect">
            <a:avLst>
              <a:gd name="adj" fmla="val 2667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0" y="221284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~$480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94436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signups from seekers (before repeat purchases)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589520" y="3703320"/>
            <a:ext cx="3749040" cy="0"/>
          </a:xfrm>
          <a:prstGeom prst="line">
            <a:avLst/>
          </a:prstGeom>
          <a:noFill/>
          <a:ln w="12700">
            <a:solidFill>
              <a:srgbClr val="1732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38221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~$160 / mo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342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active employers × 10 unlocks × ~$0.80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4828032"/>
            <a:ext cx="3749040" cy="0"/>
          </a:xfrm>
          <a:prstGeom prst="line">
            <a:avLst/>
          </a:prstGeom>
          <a:noFill/>
          <a:ln w="12700">
            <a:solidFill>
              <a:srgbClr val="1732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4956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~$1,280 / mo blended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0" y="5440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seekers + 40 employers · ~85% margin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assumptions to validate — not guarantees.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next → later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AF6F3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aggregation &amp; AI Apply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builder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match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unlock &amp; messaging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+ Stripe credits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0E7C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/ EcoCash top-ups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subscriptions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job posts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credits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delivery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21624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5A6B82">
              <a:alpha val="4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21624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analytics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integrations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(SA first)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754880" cy="4754880"/>
          </a:xfrm>
          <a:prstGeom prst="ellipse">
            <a:avLst/>
          </a:prstGeom>
          <a:ln w="12700">
            <a:solidFill>
              <a:srgbClr val="02C39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ln w="12700">
            <a:solidFill>
              <a:srgbClr val="02C39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5715000"/>
            <a:ext cx="1920240" cy="19202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blank page to a sent, tailored application in minutes — and that verified applicant into a hire.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margins that work — because the AI is nearly free to run.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212080"/>
            <a:ext cx="3840480" cy="685800"/>
          </a:xfrm>
          <a:prstGeom prst="roundRect">
            <a:avLst>
              <a:gd name="adj" fmla="val 49333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build the region’s hiring layer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Job Assistant — Pitch</dc:title>
  <dc:subject>PptxGenJS Presentation</dc:subject>
  <dc:creator>Job Assistant</dc:creator>
  <cp:lastModifiedBy>Job Assistant</cp:lastModifiedBy>
  <cp:revision>1</cp:revision>
  <dcterms:created xsi:type="dcterms:W3CDTF">2026-09-07T18:24:07Z</dcterms:created>
  <dcterms:modified xsi:type="dcterms:W3CDTF">2026-09-07T18:24:07Z</dcterms:modified>
</cp:coreProperties>
</file>